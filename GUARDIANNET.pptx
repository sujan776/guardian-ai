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B21F7-B145-417D-BB37-D11F0042B5B3}" v="3" dt="2026-06-04T15:27:29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sujan" userId="d8b8716a0b43c656" providerId="LiveId" clId="{348DB22B-E909-48FB-818C-CA8A008B410A}"/>
    <pc:docChg chg="custSel modSld">
      <pc:chgData name="sri sujan" userId="d8b8716a0b43c656" providerId="LiveId" clId="{348DB22B-E909-48FB-818C-CA8A008B410A}" dt="2026-06-04T15:27:49.310" v="27" actId="21"/>
      <pc:docMkLst>
        <pc:docMk/>
      </pc:docMkLst>
      <pc:sldChg chg="addSp delSp modSp mod">
        <pc:chgData name="sri sujan" userId="d8b8716a0b43c656" providerId="LiveId" clId="{348DB22B-E909-48FB-818C-CA8A008B410A}" dt="2026-06-04T15:27:49.310" v="27" actId="21"/>
        <pc:sldMkLst>
          <pc:docMk/>
          <pc:sldMk cId="525233383" sldId="261"/>
        </pc:sldMkLst>
        <pc:spChg chg="mod">
          <ac:chgData name="sri sujan" userId="d8b8716a0b43c656" providerId="LiveId" clId="{348DB22B-E909-48FB-818C-CA8A008B410A}" dt="2026-06-04T15:26:24.481" v="19" actId="20577"/>
          <ac:spMkLst>
            <pc:docMk/>
            <pc:sldMk cId="525233383" sldId="261"/>
            <ac:spMk id="3" creationId="{4B1786F8-D112-2DED-3E48-545285B57FEF}"/>
          </ac:spMkLst>
        </pc:spChg>
        <pc:graphicFrameChg chg="add del mod">
          <ac:chgData name="sri sujan" userId="d8b8716a0b43c656" providerId="LiveId" clId="{348DB22B-E909-48FB-818C-CA8A008B410A}" dt="2026-06-04T15:26:58.991" v="24" actId="21"/>
          <ac:graphicFrameMkLst>
            <pc:docMk/>
            <pc:sldMk cId="525233383" sldId="261"/>
            <ac:graphicFrameMk id="4" creationId="{5CF9BE8E-1502-4EDB-01CC-D0799BD7C0EC}"/>
          </ac:graphicFrameMkLst>
        </pc:graphicFrameChg>
        <pc:graphicFrameChg chg="add del mod">
          <ac:chgData name="sri sujan" userId="d8b8716a0b43c656" providerId="LiveId" clId="{348DB22B-E909-48FB-818C-CA8A008B410A}" dt="2026-06-04T15:26:56.611" v="23" actId="21"/>
          <ac:graphicFrameMkLst>
            <pc:docMk/>
            <pc:sldMk cId="525233383" sldId="261"/>
            <ac:graphicFrameMk id="5" creationId="{514E4380-3CA8-7FF1-1585-A67925AD789F}"/>
          </ac:graphicFrameMkLst>
        </pc:graphicFrameChg>
        <pc:graphicFrameChg chg="add del mod">
          <ac:chgData name="sri sujan" userId="d8b8716a0b43c656" providerId="LiveId" clId="{348DB22B-E909-48FB-818C-CA8A008B410A}" dt="2026-06-04T15:27:49.310" v="27" actId="21"/>
          <ac:graphicFrameMkLst>
            <pc:docMk/>
            <pc:sldMk cId="525233383" sldId="261"/>
            <ac:graphicFrameMk id="6" creationId="{2D419E70-18E7-0A5E-20AE-E46AC7863FA6}"/>
          </ac:graphicFrameMkLst>
        </pc:graphicFrameChg>
      </pc:sldChg>
      <pc:sldChg chg="modSp mod">
        <pc:chgData name="sri sujan" userId="d8b8716a0b43c656" providerId="LiveId" clId="{348DB22B-E909-48FB-818C-CA8A008B410A}" dt="2026-06-04T15:26:12.652" v="4" actId="27636"/>
        <pc:sldMkLst>
          <pc:docMk/>
          <pc:sldMk cId="776238016" sldId="263"/>
        </pc:sldMkLst>
        <pc:spChg chg="mod">
          <ac:chgData name="sri sujan" userId="d8b8716a0b43c656" providerId="LiveId" clId="{348DB22B-E909-48FB-818C-CA8A008B410A}" dt="2026-06-04T15:26:12.652" v="4" actId="27636"/>
          <ac:spMkLst>
            <pc:docMk/>
            <pc:sldMk cId="776238016" sldId="263"/>
            <ac:spMk id="3" creationId="{A3B8F5AE-F69D-6CB4-6761-778F80227F9B}"/>
          </ac:spMkLst>
        </pc:spChg>
      </pc:sldChg>
      <pc:sldChg chg="modSp mod">
        <pc:chgData name="sri sujan" userId="d8b8716a0b43c656" providerId="LiveId" clId="{348DB22B-E909-48FB-818C-CA8A008B410A}" dt="2026-06-04T15:15:21.917" v="0" actId="1076"/>
        <pc:sldMkLst>
          <pc:docMk/>
          <pc:sldMk cId="2095491841" sldId="265"/>
        </pc:sldMkLst>
        <pc:picChg chg="mod">
          <ac:chgData name="sri sujan" userId="d8b8716a0b43c656" providerId="LiveId" clId="{348DB22B-E909-48FB-818C-CA8A008B410A}" dt="2026-06-04T15:15:21.917" v="0" actId="1076"/>
          <ac:picMkLst>
            <pc:docMk/>
            <pc:sldMk cId="2095491841" sldId="265"/>
            <ac:picMk id="5" creationId="{4F7DD40C-8A7B-0045-EE97-4DEB2A3CA3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A87F-9A89-B0AD-BDFC-A772B391D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52D9C-9764-3D5A-BD65-00AC603DF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3BA2-FC59-016A-B1BD-EC512CB7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CB5C-B71D-F688-B10F-96E43AA0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3E04-F314-4D48-7752-D80759DD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3D-5013-19FB-6192-329B5D1E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72639-4A69-B5A2-A76F-DA6831EC1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2622-272A-769A-A9BF-E5CA6DE2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E68A-D5B5-99B9-79AB-E18065A9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A1459-D18A-FE44-CB53-CDA99631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68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669A-15AA-6450-5F61-C37927C8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1AAA9-B7A7-2739-48FF-E449B5371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BDA96-FD73-32F9-F048-F72449E3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52F6A-3966-4D78-1D6E-EFB161EC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53218-7E1D-B5A7-D255-077D0C9F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93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AB46-F503-6131-BF27-0A3F36D0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6338D-80D9-C0EB-26E8-27606BD9D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84FC3-BD5A-3C52-7A19-97355CE85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C1A38-80B5-D9CC-23ED-EA667ACC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28F9A-95AD-E76D-58D5-866C901D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978E6-F69D-CE2A-FE5E-43EFB8B2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6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A0C7-144A-6D1B-AA95-ECA793D8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A6201-20A5-83B6-9D92-90007A73C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9EF55-C0E8-3D9D-9DAA-A99953B32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BD77E-EC84-4F10-2DE3-0FD65EFA3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82F67-46AF-EEEE-FB8F-F6E56C514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039CF2-CEBE-D694-457A-C5311006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01B20-4931-AB06-70AA-1B6EA226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FA44F-988A-0465-E4F2-E1AC9ECE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82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633-D099-02AB-A144-04684C18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4DFB1-8EC3-9A3F-BA95-35CF9516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4EAE4-A86B-FDDF-8A91-6F635A8E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E8716-6106-349D-C44B-6D933067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0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A5D73-3F18-D4F0-F41F-BE933E24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BA44E-216A-2060-8FB1-F8E94A21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E0A2D-06AC-1E00-98D5-0803EBC3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1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5068-F034-4690-1EFC-73B67A4E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E3930-4354-A255-D857-09B5AF70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206C2-445A-8626-622D-6F24BFC33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2BCEA-A9E5-632A-1FEB-B3E77019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BA60E-2781-B436-7F69-B62F115B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5A499-E86A-03CA-EB4D-6DD0A65C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10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1FEA9-A538-34C1-AE5A-0099F053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2E4D4-518F-BE73-1D0A-DF2B025B1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92783-6762-A03E-FD13-653E009A3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84A2D-280E-C57C-2398-BDB99E9C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53BEF-2B7D-EA52-5030-41A904F8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F94B1-7CE5-A205-4C68-04A42D42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66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1721-93E1-8781-DA8F-8E78D5FF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A4D98-B694-5BD4-B71D-865EB50AE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E036-6A2D-1123-C1CD-6C01CA6E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DC073-78DE-986B-FE8B-444B89DA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AF065-1186-1158-8FFE-6026F41B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72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2B641-5502-6DD4-B5AC-BD4540909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BE5FD-F4C9-50D5-2067-2C0197869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EB3B6-74DC-83AA-2312-861322FF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7545C-E586-09B3-4CE2-0FF27C0BB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A8DD0-9EAD-C37B-67E9-C6A5B17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87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C01B7-4126-DBFE-D616-BD336954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6EBD-599B-5ADB-1724-0113F968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28A89-D8C0-2CB2-EFFD-B5BE62D4F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66DD2-F696-4C22-B4BB-FF6E8E947D7E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AED6-9CB8-A57C-DB8C-99E5A1285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1FEA8-55B9-913D-CCD9-84A456618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CA54A-D57D-4B03-8E81-2552529E19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29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1071-F79B-510A-3A4F-AD1CFBC6A3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GUARDIANNET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03C4D-DB06-C9E7-4556-505AAA0659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DONE BY:</a:t>
            </a:r>
          </a:p>
          <a:p>
            <a:r>
              <a:rPr lang="en-US" dirty="0"/>
              <a:t>                             SRADDHA V </a:t>
            </a:r>
          </a:p>
          <a:p>
            <a:r>
              <a:rPr lang="en-US" dirty="0"/>
              <a:t>                              SRISUJAN VM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72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6138-4430-7C86-63D1-03A28203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Alignment with United Nations SDG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8F5AE-F69D-6CB4-6761-778F80227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SDG 5: Gender Equality</a:t>
            </a:r>
            <a:r>
              <a:rPr lang="en-IN" dirty="0"/>
              <a:t> — Lowers structural transit vulnerabilities for women, directly expanding safe access to nighttime workspaces, education, and public infrastructure.</a:t>
            </a:r>
          </a:p>
          <a:p>
            <a:r>
              <a:rPr lang="en-IN" b="1" dirty="0"/>
              <a:t>SDG 11: Sustainable Cities &amp; Communities</a:t>
            </a:r>
            <a:r>
              <a:rPr lang="en-IN" dirty="0"/>
              <a:t> — Builds reliable, distributed safety infrastructure by integrating automated, community-driven volunteer networks directly into municipal transit corridors.</a:t>
            </a:r>
          </a:p>
          <a:p>
            <a:r>
              <a:rPr lang="en-IN" b="1" dirty="0"/>
              <a:t>SDG 16: Peace, Justice &amp; Strong Institutions</a:t>
            </a:r>
            <a:r>
              <a:rPr lang="en-IN" dirty="0"/>
              <a:t> — Combines end-to-end local encryption (</a:t>
            </a:r>
            <a:r>
              <a:rPr lang="en-IN" b="1" dirty="0"/>
              <a:t>AES-GCM-256</a:t>
            </a:r>
            <a:r>
              <a:rPr lang="en-IN" dirty="0"/>
              <a:t>) with a 7-day automated cache purge cycle to fully isolate user privacy and prevent unauthorized data persistence.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23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C7CC-DEDF-5B00-042A-64AE21ABA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Manual Trigger Fallacy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F5E22-C15B-94F3-F469-1EACCA5A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The Structural Flaw:</a:t>
            </a:r>
            <a:r>
              <a:rPr lang="en-IN" dirty="0"/>
              <a:t> Current emergency apps rely entirely on manual user activation. They assume a victim can access their phone, unlock the screen, and press a button during an acute threat window.</a:t>
            </a:r>
          </a:p>
          <a:p>
            <a:r>
              <a:rPr lang="en-IN" b="1" dirty="0"/>
              <a:t>The Reality Gaps:</a:t>
            </a:r>
            <a:endParaRPr lang="en-IN" dirty="0"/>
          </a:p>
          <a:p>
            <a:r>
              <a:rPr lang="en-IN" i="1" dirty="0"/>
              <a:t>Target Neutralization:</a:t>
            </a:r>
            <a:r>
              <a:rPr lang="en-IN" dirty="0"/>
              <a:t> In physical altercations, perpetrators actively target and compromise mobile devices first.</a:t>
            </a:r>
          </a:p>
          <a:p>
            <a:r>
              <a:rPr lang="en-IN" i="1" dirty="0"/>
              <a:t>Human Operational Latency:</a:t>
            </a:r>
            <a:r>
              <a:rPr lang="en-IN" dirty="0"/>
              <a:t> Situational shock severely impairs fine motor control and processing speed.</a:t>
            </a:r>
          </a:p>
          <a:p>
            <a:r>
              <a:rPr lang="en-IN" i="1" dirty="0"/>
              <a:t>Response Overhead:</a:t>
            </a:r>
            <a:r>
              <a:rPr lang="en-IN" dirty="0"/>
              <a:t> Traditional reactive security apps exhibit a dispatch delay exceeding </a:t>
            </a:r>
            <a:r>
              <a:rPr lang="en-IN" b="1" dirty="0"/>
              <a:t>6 minutes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53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012C-8D6F-01C7-8A87-BD59E320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Introducing the Guardian Band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41C5-777F-5EB9-F556-0C782AF9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The Paradigm Shift:</a:t>
            </a:r>
            <a:r>
              <a:rPr lang="en-IN" dirty="0"/>
              <a:t> Moving away from human-dependent manual alerts into a </a:t>
            </a:r>
            <a:r>
              <a:rPr lang="en-IN" b="1" dirty="0"/>
              <a:t>zero-touch, autonomous protection loop</a:t>
            </a:r>
            <a:r>
              <a:rPr lang="en-IN" dirty="0"/>
              <a:t>.</a:t>
            </a:r>
          </a:p>
          <a:p>
            <a:r>
              <a:rPr lang="en-IN" b="1" dirty="0"/>
              <a:t>Core Capabilities:</a:t>
            </a:r>
            <a:endParaRPr lang="en-IN" dirty="0"/>
          </a:p>
          <a:p>
            <a:pPr lvl="1"/>
            <a:r>
              <a:rPr lang="en-IN" i="1" dirty="0"/>
              <a:t>Continuous Passive Monitoring:</a:t>
            </a:r>
            <a:r>
              <a:rPr lang="en-IN" dirty="0"/>
              <a:t> Low-power edge frameworks run non-intrusively in the background without draining battery life.</a:t>
            </a:r>
          </a:p>
          <a:p>
            <a:pPr lvl="1"/>
            <a:r>
              <a:rPr lang="en-IN" i="1" dirty="0"/>
              <a:t>Context-Aware Autonomy:</a:t>
            </a:r>
            <a:r>
              <a:rPr lang="en-IN" dirty="0"/>
              <a:t> The system evaluates threat profiles based on </a:t>
            </a:r>
            <a:r>
              <a:rPr lang="en-IN" dirty="0" err="1"/>
              <a:t>behavioral</a:t>
            </a:r>
            <a:r>
              <a:rPr lang="en-IN" dirty="0"/>
              <a:t> data, completely removing human error or panic from the alert trigger chain.</a:t>
            </a:r>
          </a:p>
          <a:p>
            <a:pPr lvl="1"/>
            <a:r>
              <a:rPr lang="en-IN" i="1" dirty="0"/>
              <a:t>Instant Multi-Tiered Dispatch:</a:t>
            </a:r>
            <a:r>
              <a:rPr lang="en-IN" dirty="0"/>
              <a:t> Alerts deploy instantly the precise millisecond combined risk metrics cross critical thresholds.</a:t>
            </a:r>
          </a:p>
          <a:p>
            <a:r>
              <a:rPr lang="en-IN" b="1" dirty="0"/>
              <a:t>Visual Directive:</a:t>
            </a:r>
            <a:r>
              <a:rPr lang="en-IN" dirty="0"/>
              <a:t> Feature a clean </a:t>
            </a:r>
            <a:r>
              <a:rPr lang="en-IN" dirty="0" err="1"/>
              <a:t>mockup</a:t>
            </a:r>
            <a:r>
              <a:rPr lang="en-IN" dirty="0"/>
              <a:t> of the circular wearable device interface displaying the pulsing </a:t>
            </a:r>
            <a:r>
              <a:rPr lang="en-IN" b="1" dirty="0"/>
              <a:t>"SOS ACTIVE"</a:t>
            </a:r>
            <a:r>
              <a:rPr lang="en-IN" dirty="0"/>
              <a:t> core text to establish immediate product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79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3021-F0F3-7348-70D9-B40945CF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Dual-Engine Predictive Inference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AE127-C61C-68AC-B4EC-AF07823C8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Spatial Pathing Engine:</a:t>
            </a:r>
            <a:r>
              <a:rPr lang="en-IN" dirty="0"/>
              <a:t> Maps travel routes using an on-device Hidden Markov Model (HMM) and Isolation Forest </a:t>
            </a:r>
            <a:r>
              <a:rPr lang="en-IN" dirty="0" err="1"/>
              <a:t>algorithm</a:t>
            </a:r>
            <a:r>
              <a:rPr lang="en-IN" b="1" dirty="0" err="1"/>
              <a:t>Acoustic</a:t>
            </a:r>
            <a:r>
              <a:rPr lang="en-IN" b="1" dirty="0"/>
              <a:t> Processing Core:</a:t>
            </a:r>
            <a:r>
              <a:rPr lang="en-IN" dirty="0"/>
              <a:t> A minimized neural network running on the device edge. It filters urban ambient background noise to isolate human distress signatures and vocal altercations strictly within the </a:t>
            </a:r>
            <a:r>
              <a:rPr lang="en-IN" b="1" dirty="0"/>
              <a:t>3.0 kHz to 4.5 kHz</a:t>
            </a:r>
            <a:r>
              <a:rPr lang="en-IN" dirty="0"/>
              <a:t> spectrum.</a:t>
            </a:r>
          </a:p>
          <a:p>
            <a:r>
              <a:rPr lang="en-IN" b="1" dirty="0"/>
              <a:t>Dynamic Risk Aggregation:</a:t>
            </a:r>
            <a:r>
              <a:rPr lang="en-IN" dirty="0"/>
              <a:t> Triggers emergency workflows automatically when a weighted multi-factor calculation combines kinetic impact, path deviation, and acoustic validation to exceed a threshold of ≥0.75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8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E617A-401B-B8CE-92FC-DE8CE07A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High-Load Decoupled Ingestion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C9E45-EE89-2D66-B973-852DD097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Edge Compute Layer:</a:t>
            </a:r>
            <a:r>
              <a:rPr lang="en-IN" dirty="0"/>
              <a:t> Maximizes processing speed and user privacy by executing raw acoustic parsing and kinetic threshold filtration directly on the client device.</a:t>
            </a:r>
          </a:p>
          <a:p>
            <a:r>
              <a:rPr lang="en-IN" b="1" dirty="0"/>
              <a:t>Transient Stream Grid:</a:t>
            </a:r>
            <a:r>
              <a:rPr lang="en-IN" dirty="0"/>
              <a:t> Manages continuous tracking updates from over 1,000,000 concurrent devices by routing logs through cloud ingestion queues into an in-memory </a:t>
            </a:r>
            <a:r>
              <a:rPr lang="en-IN" b="1" dirty="0"/>
              <a:t>Redis Enterprise Cluster</a:t>
            </a:r>
            <a:r>
              <a:rPr lang="en-IN" dirty="0"/>
              <a:t>, bypassing database bottlenecks.</a:t>
            </a:r>
          </a:p>
          <a:p>
            <a:r>
              <a:rPr lang="en-IN" b="1" dirty="0"/>
              <a:t>Decentralized Mesh Communications:</a:t>
            </a:r>
            <a:r>
              <a:rPr lang="en-IN" dirty="0"/>
              <a:t> Writes permanently to </a:t>
            </a:r>
            <a:r>
              <a:rPr lang="en-IN" dirty="0" err="1"/>
              <a:t>Firestore</a:t>
            </a:r>
            <a:r>
              <a:rPr lang="en-IN" dirty="0"/>
              <a:t> NoSQL nodes only during active alert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80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F1E4-0C53-0140-B142-41EA6481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Location &amp; Mesh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86F8-D112-2DED-3E48-545285B57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The Live Control Plane:</a:t>
            </a:r>
            <a:r>
              <a:rPr lang="en-IN" dirty="0"/>
              <a:t> Demonstrating the end-to-end interface built on a responsive Leaflet GIS Dark-Tile Map Engine.</a:t>
            </a:r>
          </a:p>
          <a:p>
            <a:r>
              <a:rPr lang="en-IN" b="1" dirty="0"/>
              <a:t>Active Telemetry Feed:</a:t>
            </a:r>
            <a:r>
              <a:rPr lang="en-IN" dirty="0"/>
              <a:t> Real-time tracking of exact GNSS coordinates, active satellite connections, and hardware recording states.</a:t>
            </a:r>
          </a:p>
          <a:p>
            <a:r>
              <a:rPr lang="en-IN" b="1" dirty="0"/>
              <a:t>Live Mesh Verification Matrix:</a:t>
            </a:r>
            <a:endParaRPr lang="en-IN" dirty="0"/>
          </a:p>
          <a:p>
            <a:r>
              <a:rPr lang="en-IN" i="1" dirty="0"/>
              <a:t>Smartphone &amp; Cloud Gateway:</a:t>
            </a:r>
            <a:r>
              <a:rPr lang="en-IN" dirty="0"/>
              <a:t> Secure Mesh Link Connected / Stable Ingestion Uplink</a:t>
            </a:r>
          </a:p>
          <a:p>
            <a:r>
              <a:rPr lang="en-IN" i="1" dirty="0"/>
              <a:t>Police Control Desk:</a:t>
            </a:r>
            <a:r>
              <a:rPr lang="en-IN" dirty="0"/>
              <a:t> Threat Profile Dispatched &amp; Actively Transmitting</a:t>
            </a:r>
          </a:p>
          <a:p>
            <a:r>
              <a:rPr lang="en-IN" i="1" dirty="0"/>
              <a:t>Civic Responders:</a:t>
            </a:r>
            <a:r>
              <a:rPr lang="en-IN" dirty="0"/>
              <a:t> Verified Volunteers actively tracked within the intercept geofence area.</a:t>
            </a:r>
          </a:p>
          <a:p>
            <a:r>
              <a:rPr lang="en-IN" dirty="0"/>
              <a:t>Project link:</a:t>
            </a:r>
          </a:p>
        </p:txBody>
      </p:sp>
    </p:spTree>
    <p:extLst>
      <p:ext uri="{BB962C8B-B14F-4D97-AF65-F5344CB8AC3E}">
        <p14:creationId xmlns:p14="http://schemas.microsoft.com/office/powerpoint/2010/main" val="52523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1FDE-CFB1-2A72-83FF-8FD76B54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IMAGES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FEAE7-8924-B899-4407-4C436F7EE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12" y="1425512"/>
            <a:ext cx="11466576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E21B-BD76-2C49-DD78-BCA068B9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IMAGES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DD40C-8A7B-0045-EE97-4DEB2A3CA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54" y="1380744"/>
            <a:ext cx="9180522" cy="51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9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7022-DB91-5817-2ABC-D74A2AAA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AAE0-D31E-FD6A-B88F-0ABDC1C9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Our Core Mission:</a:t>
            </a:r>
            <a:r>
              <a:rPr lang="en-IN" dirty="0"/>
              <a:t> Establishing an intelligent, autonomous standard for personal protection that works independently of manual constraints.</a:t>
            </a:r>
          </a:p>
          <a:p>
            <a:r>
              <a:rPr lang="en-IN" b="1" dirty="0"/>
              <a:t>Strategic Seed Allocation Requirements:</a:t>
            </a:r>
            <a:endParaRPr lang="en-IN" dirty="0"/>
          </a:p>
          <a:p>
            <a:r>
              <a:rPr lang="en-IN" dirty="0"/>
              <a:t>Expanding core technical teams (Edge Neural Engineering / High-Load GIS Data Infrastructure Systems).</a:t>
            </a:r>
          </a:p>
          <a:p>
            <a:r>
              <a:rPr lang="en-IN" dirty="0"/>
              <a:t>Deploying regional police dispatch integration models and university campus pilot implementations.</a:t>
            </a:r>
          </a:p>
          <a:p>
            <a:r>
              <a:rPr lang="en-IN" i="1" dirty="0"/>
              <a:t>Closing Statement:</a:t>
            </a:r>
            <a:r>
              <a:rPr lang="en-IN" dirty="0"/>
              <a:t> </a:t>
            </a:r>
            <a:r>
              <a:rPr lang="en-IN" b="1" dirty="0"/>
              <a:t>"We don't wait for a user to call for help—our technology responds when it matters most."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19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644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GUARDIANNET</vt:lpstr>
      <vt:lpstr>Alignment with United Nations SDG Frameworks</vt:lpstr>
      <vt:lpstr>The Manual Trigger Fallacy</vt:lpstr>
      <vt:lpstr>Introducing the Guardian Band Ecosystem</vt:lpstr>
      <vt:lpstr>Dual-Engine Predictive Inference Matrix</vt:lpstr>
      <vt:lpstr>High-Load Decoupled Ingestion Pipeline</vt:lpstr>
      <vt:lpstr>Real-Time Location &amp; Mesh Intelligence</vt:lpstr>
      <vt:lpstr>OUTPUT IMAGES</vt:lpstr>
      <vt:lpstr>OUTPUT IMAGES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sujan</dc:creator>
  <cp:lastModifiedBy>sri sujan</cp:lastModifiedBy>
  <cp:revision>1</cp:revision>
  <dcterms:created xsi:type="dcterms:W3CDTF">2026-06-04T15:15:02Z</dcterms:created>
  <dcterms:modified xsi:type="dcterms:W3CDTF">2026-06-04T15:28:00Z</dcterms:modified>
</cp:coreProperties>
</file>